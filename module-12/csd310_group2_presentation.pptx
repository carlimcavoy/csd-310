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92"/>
    <p:restoredTop sz="94744"/>
  </p:normalViewPr>
  <p:slideViewPr>
    <p:cSldViewPr snapToGrid="0">
      <p:cViewPr varScale="1">
        <p:scale>
          <a:sx n="116" d="100"/>
          <a:sy n="116" d="100"/>
        </p:scale>
        <p:origin x="48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3A056D4-AF2C-4D30-BBEE-28D79FB8B4E0}" type="doc">
      <dgm:prSet loTypeId="urn:microsoft.com/office/officeart/2005/8/layout/hList1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5CEE4FD7-3958-46E7-915A-DE7C4B96E696}">
      <dgm:prSet/>
      <dgm:spPr/>
      <dgm:t>
        <a:bodyPr/>
        <a:lstStyle/>
        <a:p>
          <a:r>
            <a:rPr lang="en-US"/>
            <a:t>Business Rules</a:t>
          </a:r>
        </a:p>
      </dgm:t>
    </dgm:pt>
    <dgm:pt modelId="{D119AD1A-852E-4CE3-A5CF-85B8F787D328}" type="parTrans" cxnId="{31454E21-647C-45D5-BE0A-EB5F54F41918}">
      <dgm:prSet/>
      <dgm:spPr/>
      <dgm:t>
        <a:bodyPr/>
        <a:lstStyle/>
        <a:p>
          <a:endParaRPr lang="en-US"/>
        </a:p>
      </dgm:t>
    </dgm:pt>
    <dgm:pt modelId="{87665EBB-26FA-4AC0-B43D-600AB630C4C4}" type="sibTrans" cxnId="{31454E21-647C-45D5-BE0A-EB5F54F41918}">
      <dgm:prSet/>
      <dgm:spPr/>
      <dgm:t>
        <a:bodyPr/>
        <a:lstStyle/>
        <a:p>
          <a:endParaRPr lang="en-US"/>
        </a:p>
      </dgm:t>
    </dgm:pt>
    <dgm:pt modelId="{1443706E-3134-40AC-A52B-2E015E42A0A2}">
      <dgm:prSet/>
      <dgm:spPr/>
      <dgm:t>
        <a:bodyPr/>
        <a:lstStyle/>
        <a:p>
          <a:r>
            <a:rPr lang="en-US"/>
            <a:t>One client can have one asset</a:t>
          </a:r>
        </a:p>
      </dgm:t>
    </dgm:pt>
    <dgm:pt modelId="{804ADAEC-C178-474E-AC6B-FBD3C5DCB4A6}" type="parTrans" cxnId="{C54D0AAA-03F4-4654-BE06-E1CC9C726209}">
      <dgm:prSet/>
      <dgm:spPr/>
      <dgm:t>
        <a:bodyPr/>
        <a:lstStyle/>
        <a:p>
          <a:endParaRPr lang="en-US"/>
        </a:p>
      </dgm:t>
    </dgm:pt>
    <dgm:pt modelId="{AA2E3440-8637-4A92-A55E-820BF9B041B9}" type="sibTrans" cxnId="{C54D0AAA-03F4-4654-BE06-E1CC9C726209}">
      <dgm:prSet/>
      <dgm:spPr/>
      <dgm:t>
        <a:bodyPr/>
        <a:lstStyle/>
        <a:p>
          <a:endParaRPr lang="en-US"/>
        </a:p>
      </dgm:t>
    </dgm:pt>
    <dgm:pt modelId="{E6800A3F-D592-4F27-9DA0-AE40F911C954}">
      <dgm:prSet/>
      <dgm:spPr/>
      <dgm:t>
        <a:bodyPr/>
        <a:lstStyle/>
        <a:p>
          <a:r>
            <a:rPr lang="en-US" dirty="0"/>
            <a:t>One client can have many transactions</a:t>
          </a:r>
        </a:p>
      </dgm:t>
    </dgm:pt>
    <dgm:pt modelId="{11C6B798-6A0C-4A63-9A42-2CEF29E0CE9B}" type="parTrans" cxnId="{72CCEF23-757A-4D90-ACC9-73E42B51DE08}">
      <dgm:prSet/>
      <dgm:spPr/>
      <dgm:t>
        <a:bodyPr/>
        <a:lstStyle/>
        <a:p>
          <a:endParaRPr lang="en-US"/>
        </a:p>
      </dgm:t>
    </dgm:pt>
    <dgm:pt modelId="{475FE201-1DC4-4CFE-BCC1-F9D6D12BEF68}" type="sibTrans" cxnId="{72CCEF23-757A-4D90-ACC9-73E42B51DE08}">
      <dgm:prSet/>
      <dgm:spPr/>
      <dgm:t>
        <a:bodyPr/>
        <a:lstStyle/>
        <a:p>
          <a:endParaRPr lang="en-US"/>
        </a:p>
      </dgm:t>
    </dgm:pt>
    <dgm:pt modelId="{35022780-41F8-4B41-AB75-A4769F559FA2}">
      <dgm:prSet/>
      <dgm:spPr/>
      <dgm:t>
        <a:bodyPr/>
        <a:lstStyle/>
        <a:p>
          <a:r>
            <a:rPr lang="en-US"/>
            <a:t>Assumptions</a:t>
          </a:r>
        </a:p>
      </dgm:t>
    </dgm:pt>
    <dgm:pt modelId="{45BA82B0-4227-48D5-9E40-C63A063FF908}" type="parTrans" cxnId="{E1CE998B-A7F8-4952-AB44-45CD910DBF07}">
      <dgm:prSet/>
      <dgm:spPr/>
      <dgm:t>
        <a:bodyPr/>
        <a:lstStyle/>
        <a:p>
          <a:endParaRPr lang="en-US"/>
        </a:p>
      </dgm:t>
    </dgm:pt>
    <dgm:pt modelId="{9FB43B09-B917-470A-921D-3FFA969BBF4F}" type="sibTrans" cxnId="{E1CE998B-A7F8-4952-AB44-45CD910DBF07}">
      <dgm:prSet/>
      <dgm:spPr/>
      <dgm:t>
        <a:bodyPr/>
        <a:lstStyle/>
        <a:p>
          <a:endParaRPr lang="en-US"/>
        </a:p>
      </dgm:t>
    </dgm:pt>
    <dgm:pt modelId="{45BBDF54-4DE8-41D9-B761-0D916CF1ED9C}">
      <dgm:prSet/>
      <dgm:spPr/>
      <dgm:t>
        <a:bodyPr/>
        <a:lstStyle/>
        <a:p>
          <a:r>
            <a:rPr lang="en-US" dirty="0"/>
            <a:t>Each client has a single asset record that represents the client’s total combined asset value.</a:t>
          </a:r>
        </a:p>
      </dgm:t>
    </dgm:pt>
    <dgm:pt modelId="{8BD87A10-7282-4283-B1F5-B35E3046CE64}" type="parTrans" cxnId="{CC39348E-EC59-43E6-8393-9A86E8A10409}">
      <dgm:prSet/>
      <dgm:spPr/>
      <dgm:t>
        <a:bodyPr/>
        <a:lstStyle/>
        <a:p>
          <a:endParaRPr lang="en-US"/>
        </a:p>
      </dgm:t>
    </dgm:pt>
    <dgm:pt modelId="{7D9D5B3D-9898-4443-8E24-1246C34487A9}" type="sibTrans" cxnId="{CC39348E-EC59-43E6-8393-9A86E8A10409}">
      <dgm:prSet/>
      <dgm:spPr/>
      <dgm:t>
        <a:bodyPr/>
        <a:lstStyle/>
        <a:p>
          <a:endParaRPr lang="en-US"/>
        </a:p>
      </dgm:t>
    </dgm:pt>
    <dgm:pt modelId="{41429982-0B3D-E54D-8BE6-3E1C3464F289}">
      <dgm:prSet/>
      <dgm:spPr/>
      <dgm:t>
        <a:bodyPr/>
        <a:lstStyle/>
        <a:p>
          <a:r>
            <a:rPr lang="en-US" dirty="0"/>
            <a:t>Each transaction is associated with one client</a:t>
          </a:r>
        </a:p>
      </dgm:t>
    </dgm:pt>
    <dgm:pt modelId="{1EC01548-9DF1-4240-9937-4A51E10183C3}" type="parTrans" cxnId="{6571FA9B-B5C4-1D47-B428-C023184119D1}">
      <dgm:prSet/>
      <dgm:spPr/>
      <dgm:t>
        <a:bodyPr/>
        <a:lstStyle/>
        <a:p>
          <a:endParaRPr lang="en-US"/>
        </a:p>
      </dgm:t>
    </dgm:pt>
    <dgm:pt modelId="{AFD0DEEA-8B87-DF44-ADE2-C41F9EE74234}" type="sibTrans" cxnId="{6571FA9B-B5C4-1D47-B428-C023184119D1}">
      <dgm:prSet/>
      <dgm:spPr/>
      <dgm:t>
        <a:bodyPr/>
        <a:lstStyle/>
        <a:p>
          <a:endParaRPr lang="en-US"/>
        </a:p>
      </dgm:t>
    </dgm:pt>
    <dgm:pt modelId="{1EEB7D61-04B3-0644-8630-8951B2E162F1}">
      <dgm:prSet/>
      <dgm:spPr/>
      <dgm:t>
        <a:bodyPr/>
        <a:lstStyle/>
        <a:p>
          <a:r>
            <a:rPr lang="en-US" dirty="0"/>
            <a:t>Each client has their own unique identifier</a:t>
          </a:r>
        </a:p>
      </dgm:t>
    </dgm:pt>
    <dgm:pt modelId="{6321C535-10C3-7845-927D-EC54EA93CE84}" type="parTrans" cxnId="{0073A4C7-EAD9-6248-8B18-89ADF98B122A}">
      <dgm:prSet/>
      <dgm:spPr/>
      <dgm:t>
        <a:bodyPr/>
        <a:lstStyle/>
        <a:p>
          <a:endParaRPr lang="en-US"/>
        </a:p>
      </dgm:t>
    </dgm:pt>
    <dgm:pt modelId="{BE527643-2CF1-084C-9046-4B4D5E0948D3}" type="sibTrans" cxnId="{0073A4C7-EAD9-6248-8B18-89ADF98B122A}">
      <dgm:prSet/>
      <dgm:spPr/>
      <dgm:t>
        <a:bodyPr/>
        <a:lstStyle/>
        <a:p>
          <a:endParaRPr lang="en-US"/>
        </a:p>
      </dgm:t>
    </dgm:pt>
    <dgm:pt modelId="{F5C1A62B-D31D-DA4E-8D6E-BA04CF05CAAD}" type="pres">
      <dgm:prSet presAssocID="{73A056D4-AF2C-4D30-BBEE-28D79FB8B4E0}" presName="Name0" presStyleCnt="0">
        <dgm:presLayoutVars>
          <dgm:dir/>
          <dgm:animLvl val="lvl"/>
          <dgm:resizeHandles val="exact"/>
        </dgm:presLayoutVars>
      </dgm:prSet>
      <dgm:spPr/>
    </dgm:pt>
    <dgm:pt modelId="{6886ABFE-8AE9-CD4B-888C-EE957BE27590}" type="pres">
      <dgm:prSet presAssocID="{5CEE4FD7-3958-46E7-915A-DE7C4B96E696}" presName="composite" presStyleCnt="0"/>
      <dgm:spPr/>
    </dgm:pt>
    <dgm:pt modelId="{D5AB046C-6635-9F41-A03E-24F5584FB596}" type="pres">
      <dgm:prSet presAssocID="{5CEE4FD7-3958-46E7-915A-DE7C4B96E696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DCCDCC8B-C513-F149-ABF3-6846E2667B42}" type="pres">
      <dgm:prSet presAssocID="{5CEE4FD7-3958-46E7-915A-DE7C4B96E696}" presName="desTx" presStyleLbl="alignAccFollowNode1" presStyleIdx="0" presStyleCnt="2">
        <dgm:presLayoutVars>
          <dgm:bulletEnabled val="1"/>
        </dgm:presLayoutVars>
      </dgm:prSet>
      <dgm:spPr/>
    </dgm:pt>
    <dgm:pt modelId="{2160DE15-C772-3E49-AF18-871DE721C3F3}" type="pres">
      <dgm:prSet presAssocID="{87665EBB-26FA-4AC0-B43D-600AB630C4C4}" presName="space" presStyleCnt="0"/>
      <dgm:spPr/>
    </dgm:pt>
    <dgm:pt modelId="{4543DCDA-359A-A945-90CC-5EDF170689B6}" type="pres">
      <dgm:prSet presAssocID="{35022780-41F8-4B41-AB75-A4769F559FA2}" presName="composite" presStyleCnt="0"/>
      <dgm:spPr/>
    </dgm:pt>
    <dgm:pt modelId="{885CF7B8-567C-2E4D-A431-C9A0EA1667D1}" type="pres">
      <dgm:prSet presAssocID="{35022780-41F8-4B41-AB75-A4769F559FA2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108E88BC-AB90-BE4B-A05F-1CD22B3CB61F}" type="pres">
      <dgm:prSet presAssocID="{35022780-41F8-4B41-AB75-A4769F559FA2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19868E01-229D-5C4A-8D17-432A0969D9C9}" type="presOf" srcId="{5CEE4FD7-3958-46E7-915A-DE7C4B96E696}" destId="{D5AB046C-6635-9F41-A03E-24F5584FB596}" srcOrd="0" destOrd="0" presId="urn:microsoft.com/office/officeart/2005/8/layout/hList1"/>
    <dgm:cxn modelId="{7595BA0A-AB7F-CC4F-A0A9-2A911755C654}" type="presOf" srcId="{73A056D4-AF2C-4D30-BBEE-28D79FB8B4E0}" destId="{F5C1A62B-D31D-DA4E-8D6E-BA04CF05CAAD}" srcOrd="0" destOrd="0" presId="urn:microsoft.com/office/officeart/2005/8/layout/hList1"/>
    <dgm:cxn modelId="{6A13FF16-664A-D64B-9A9E-8C84F59D63F0}" type="presOf" srcId="{1EEB7D61-04B3-0644-8630-8951B2E162F1}" destId="{DCCDCC8B-C513-F149-ABF3-6846E2667B42}" srcOrd="0" destOrd="3" presId="urn:microsoft.com/office/officeart/2005/8/layout/hList1"/>
    <dgm:cxn modelId="{900FDF1D-310A-A54F-83E3-62B7FF6FC456}" type="presOf" srcId="{35022780-41F8-4B41-AB75-A4769F559FA2}" destId="{885CF7B8-567C-2E4D-A431-C9A0EA1667D1}" srcOrd="0" destOrd="0" presId="urn:microsoft.com/office/officeart/2005/8/layout/hList1"/>
    <dgm:cxn modelId="{31454E21-647C-45D5-BE0A-EB5F54F41918}" srcId="{73A056D4-AF2C-4D30-BBEE-28D79FB8B4E0}" destId="{5CEE4FD7-3958-46E7-915A-DE7C4B96E696}" srcOrd="0" destOrd="0" parTransId="{D119AD1A-852E-4CE3-A5CF-85B8F787D328}" sibTransId="{87665EBB-26FA-4AC0-B43D-600AB630C4C4}"/>
    <dgm:cxn modelId="{72CCEF23-757A-4D90-ACC9-73E42B51DE08}" srcId="{5CEE4FD7-3958-46E7-915A-DE7C4B96E696}" destId="{E6800A3F-D592-4F27-9DA0-AE40F911C954}" srcOrd="1" destOrd="0" parTransId="{11C6B798-6A0C-4A63-9A42-2CEF29E0CE9B}" sibTransId="{475FE201-1DC4-4CFE-BCC1-F9D6D12BEF68}"/>
    <dgm:cxn modelId="{165A406C-3F64-D449-A36A-5F9AD2545351}" type="presOf" srcId="{45BBDF54-4DE8-41D9-B761-0D916CF1ED9C}" destId="{108E88BC-AB90-BE4B-A05F-1CD22B3CB61F}" srcOrd="0" destOrd="0" presId="urn:microsoft.com/office/officeart/2005/8/layout/hList1"/>
    <dgm:cxn modelId="{E195A37E-2C38-9B47-9F70-56ABE4296FF1}" type="presOf" srcId="{1443706E-3134-40AC-A52B-2E015E42A0A2}" destId="{DCCDCC8B-C513-F149-ABF3-6846E2667B42}" srcOrd="0" destOrd="0" presId="urn:microsoft.com/office/officeart/2005/8/layout/hList1"/>
    <dgm:cxn modelId="{19909280-FA08-164D-86A4-19ABBDBD4981}" type="presOf" srcId="{41429982-0B3D-E54D-8BE6-3E1C3464F289}" destId="{DCCDCC8B-C513-F149-ABF3-6846E2667B42}" srcOrd="0" destOrd="2" presId="urn:microsoft.com/office/officeart/2005/8/layout/hList1"/>
    <dgm:cxn modelId="{E1CE998B-A7F8-4952-AB44-45CD910DBF07}" srcId="{73A056D4-AF2C-4D30-BBEE-28D79FB8B4E0}" destId="{35022780-41F8-4B41-AB75-A4769F559FA2}" srcOrd="1" destOrd="0" parTransId="{45BA82B0-4227-48D5-9E40-C63A063FF908}" sibTransId="{9FB43B09-B917-470A-921D-3FFA969BBF4F}"/>
    <dgm:cxn modelId="{CC39348E-EC59-43E6-8393-9A86E8A10409}" srcId="{35022780-41F8-4B41-AB75-A4769F559FA2}" destId="{45BBDF54-4DE8-41D9-B761-0D916CF1ED9C}" srcOrd="0" destOrd="0" parTransId="{8BD87A10-7282-4283-B1F5-B35E3046CE64}" sibTransId="{7D9D5B3D-9898-4443-8E24-1246C34487A9}"/>
    <dgm:cxn modelId="{6571FA9B-B5C4-1D47-B428-C023184119D1}" srcId="{5CEE4FD7-3958-46E7-915A-DE7C4B96E696}" destId="{41429982-0B3D-E54D-8BE6-3E1C3464F289}" srcOrd="2" destOrd="0" parTransId="{1EC01548-9DF1-4240-9937-4A51E10183C3}" sibTransId="{AFD0DEEA-8B87-DF44-ADE2-C41F9EE74234}"/>
    <dgm:cxn modelId="{C54D0AAA-03F4-4654-BE06-E1CC9C726209}" srcId="{5CEE4FD7-3958-46E7-915A-DE7C4B96E696}" destId="{1443706E-3134-40AC-A52B-2E015E42A0A2}" srcOrd="0" destOrd="0" parTransId="{804ADAEC-C178-474E-AC6B-FBD3C5DCB4A6}" sibTransId="{AA2E3440-8637-4A92-A55E-820BF9B041B9}"/>
    <dgm:cxn modelId="{0073A4C7-EAD9-6248-8B18-89ADF98B122A}" srcId="{5CEE4FD7-3958-46E7-915A-DE7C4B96E696}" destId="{1EEB7D61-04B3-0644-8630-8951B2E162F1}" srcOrd="3" destOrd="0" parTransId="{6321C535-10C3-7845-927D-EC54EA93CE84}" sibTransId="{BE527643-2CF1-084C-9046-4B4D5E0948D3}"/>
    <dgm:cxn modelId="{75B5A5EE-F7A7-BF44-9B1C-69413870E2BB}" type="presOf" srcId="{E6800A3F-D592-4F27-9DA0-AE40F911C954}" destId="{DCCDCC8B-C513-F149-ABF3-6846E2667B42}" srcOrd="0" destOrd="1" presId="urn:microsoft.com/office/officeart/2005/8/layout/hList1"/>
    <dgm:cxn modelId="{8F68E0F0-1519-ED4A-A950-F2F054FFB357}" type="presParOf" srcId="{F5C1A62B-D31D-DA4E-8D6E-BA04CF05CAAD}" destId="{6886ABFE-8AE9-CD4B-888C-EE957BE27590}" srcOrd="0" destOrd="0" presId="urn:microsoft.com/office/officeart/2005/8/layout/hList1"/>
    <dgm:cxn modelId="{1F4D11BE-20EF-FE4C-BD4A-91C640A2F11E}" type="presParOf" srcId="{6886ABFE-8AE9-CD4B-888C-EE957BE27590}" destId="{D5AB046C-6635-9F41-A03E-24F5584FB596}" srcOrd="0" destOrd="0" presId="urn:microsoft.com/office/officeart/2005/8/layout/hList1"/>
    <dgm:cxn modelId="{EB1594CB-3A1C-1C4E-8F9F-2914CB42A4EF}" type="presParOf" srcId="{6886ABFE-8AE9-CD4B-888C-EE957BE27590}" destId="{DCCDCC8B-C513-F149-ABF3-6846E2667B42}" srcOrd="1" destOrd="0" presId="urn:microsoft.com/office/officeart/2005/8/layout/hList1"/>
    <dgm:cxn modelId="{CBB00706-463A-1C4A-88BC-B97EE7673DE2}" type="presParOf" srcId="{F5C1A62B-D31D-DA4E-8D6E-BA04CF05CAAD}" destId="{2160DE15-C772-3E49-AF18-871DE721C3F3}" srcOrd="1" destOrd="0" presId="urn:microsoft.com/office/officeart/2005/8/layout/hList1"/>
    <dgm:cxn modelId="{105E9F58-52B1-5548-93FB-BBEC82313BE0}" type="presParOf" srcId="{F5C1A62B-D31D-DA4E-8D6E-BA04CF05CAAD}" destId="{4543DCDA-359A-A945-90CC-5EDF170689B6}" srcOrd="2" destOrd="0" presId="urn:microsoft.com/office/officeart/2005/8/layout/hList1"/>
    <dgm:cxn modelId="{3E910632-FD71-474E-BF67-C4BE1A6A0BB0}" type="presParOf" srcId="{4543DCDA-359A-A945-90CC-5EDF170689B6}" destId="{885CF7B8-567C-2E4D-A431-C9A0EA1667D1}" srcOrd="0" destOrd="0" presId="urn:microsoft.com/office/officeart/2005/8/layout/hList1"/>
    <dgm:cxn modelId="{C33930BB-C7D3-394B-B301-B9C61179096C}" type="presParOf" srcId="{4543DCDA-359A-A945-90CC-5EDF170689B6}" destId="{108E88BC-AB90-BE4B-A05F-1CD22B3CB61F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5AB046C-6635-9F41-A03E-24F5584FB596}">
      <dsp:nvSpPr>
        <dsp:cNvPr id="0" name=""/>
        <dsp:cNvSpPr/>
      </dsp:nvSpPr>
      <dsp:spPr>
        <a:xfrm>
          <a:off x="53" y="77072"/>
          <a:ext cx="5106412" cy="77760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2024" tIns="109728" rIns="192024" bIns="109728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Business Rules</a:t>
          </a:r>
        </a:p>
      </dsp:txBody>
      <dsp:txXfrm>
        <a:off x="53" y="77072"/>
        <a:ext cx="5106412" cy="777600"/>
      </dsp:txXfrm>
    </dsp:sp>
    <dsp:sp modelId="{DCCDCC8B-C513-F149-ABF3-6846E2667B42}">
      <dsp:nvSpPr>
        <dsp:cNvPr id="0" name=""/>
        <dsp:cNvSpPr/>
      </dsp:nvSpPr>
      <dsp:spPr>
        <a:xfrm>
          <a:off x="53" y="854672"/>
          <a:ext cx="5106412" cy="3261059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018" tIns="144018" rIns="192024" bIns="216027" numCol="1" spcCol="1270" anchor="t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kern="1200"/>
            <a:t>One client can have one asset</a:t>
          </a: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kern="1200" dirty="0"/>
            <a:t>One client can have many transactions</a:t>
          </a: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kern="1200" dirty="0"/>
            <a:t>Each transaction is associated with one client</a:t>
          </a: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kern="1200" dirty="0"/>
            <a:t>Each client has their own unique identifier</a:t>
          </a:r>
        </a:p>
      </dsp:txBody>
      <dsp:txXfrm>
        <a:off x="53" y="854672"/>
        <a:ext cx="5106412" cy="3261059"/>
      </dsp:txXfrm>
    </dsp:sp>
    <dsp:sp modelId="{885CF7B8-567C-2E4D-A431-C9A0EA1667D1}">
      <dsp:nvSpPr>
        <dsp:cNvPr id="0" name=""/>
        <dsp:cNvSpPr/>
      </dsp:nvSpPr>
      <dsp:spPr>
        <a:xfrm>
          <a:off x="5821363" y="77072"/>
          <a:ext cx="5106412" cy="777600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2024" tIns="109728" rIns="192024" bIns="109728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Assumptions</a:t>
          </a:r>
        </a:p>
      </dsp:txBody>
      <dsp:txXfrm>
        <a:off x="5821363" y="77072"/>
        <a:ext cx="5106412" cy="777600"/>
      </dsp:txXfrm>
    </dsp:sp>
    <dsp:sp modelId="{108E88BC-AB90-BE4B-A05F-1CD22B3CB61F}">
      <dsp:nvSpPr>
        <dsp:cNvPr id="0" name=""/>
        <dsp:cNvSpPr/>
      </dsp:nvSpPr>
      <dsp:spPr>
        <a:xfrm>
          <a:off x="5821363" y="854672"/>
          <a:ext cx="5106412" cy="3261059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018" tIns="144018" rIns="192024" bIns="216027" numCol="1" spcCol="1270" anchor="t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kern="1200" dirty="0"/>
            <a:t>Each client has a single asset record that represents the client’s total combined asset value.</a:t>
          </a:r>
        </a:p>
      </dsp:txBody>
      <dsp:txXfrm>
        <a:off x="5821363" y="854672"/>
        <a:ext cx="5106412" cy="326105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F6FF18-976A-0719-0ED2-111835A1E4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504F22-A3F6-12FE-07B0-93AC927282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759B8E-7F6A-609E-D246-3A6E39596B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FF713-6187-0C40-82CB-3EE322F7EF8C}" type="datetimeFigureOut">
              <a:rPr lang="en-US" smtClean="0"/>
              <a:t>12/18/25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3B2D51-06AC-4C65-12EF-965870DCC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79AD2D-5F93-4C86-4697-6757DDCC6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6F6C21-1B4B-F54F-B80E-7BA5542241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6551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D05C97-AECB-A22E-6BD4-56009EADA3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BF1463-64F8-9F9C-A5EB-430C62D3FD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929914-32C9-8A29-E887-375FE01AD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FF713-6187-0C40-82CB-3EE322F7EF8C}" type="datetimeFigureOut">
              <a:rPr lang="en-US" smtClean="0"/>
              <a:t>12/18/25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BE476A-378E-775A-8E76-2906F6BD18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0DA5C9-F137-D156-4880-D9149C5D6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6F6C21-1B4B-F54F-B80E-7BA5542241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7116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9AF6A5-34E2-70CB-605F-A37BE9832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551CEA-E38A-A310-7CC7-3CC9688B47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2B83BF-5789-7831-22BC-EB98A0757F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FF713-6187-0C40-82CB-3EE322F7EF8C}" type="datetimeFigureOut">
              <a:rPr lang="en-US" smtClean="0"/>
              <a:t>12/18/25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5587ED-4F77-573E-7B5F-C2610AD921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8C312B-99CE-7C65-DB3A-7076AD6F1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6F6C21-1B4B-F54F-B80E-7BA5542241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24077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4BAA3-4766-9A42-7436-220D8D064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871464-7090-00CC-60C7-4E68EA1FE0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819E39-4799-1064-BBE0-8929022342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D2B56D-40C1-7FCC-9694-CB99C7568F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FF713-6187-0C40-82CB-3EE322F7EF8C}" type="datetimeFigureOut">
              <a:rPr lang="en-US" smtClean="0"/>
              <a:t>12/18/25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44634C-B852-6E5C-0B22-B45511361F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9443E3-D339-9D65-63D2-91DA6D61A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6F6C21-1B4B-F54F-B80E-7BA5542241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5366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5CFD4C-1235-ACC9-C512-2A889B57F7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4B218B-6EBD-1302-B893-EDE4C741D4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E71464-63F8-BD00-AE2E-FF05033988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D5F2721-D645-98E1-442F-43D5EECCEC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F7583E-5A5B-7764-50FD-2B5F3F4EE4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31923B7-DC01-42CD-2DC9-9733C99AA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FF713-6187-0C40-82CB-3EE322F7EF8C}" type="datetimeFigureOut">
              <a:rPr lang="en-US" smtClean="0"/>
              <a:t>12/18/25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8E64AB-6346-EF5D-7DE5-A070C799F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E40FF5F-E489-5FD9-5484-D580EF885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6F6C21-1B4B-F54F-B80E-7BA5542241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82894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37FDC5-4A54-3AD4-5440-4085F24485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B9026B-F4F3-9309-0A45-A4877597A9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FF713-6187-0C40-82CB-3EE322F7EF8C}" type="datetimeFigureOut">
              <a:rPr lang="en-US" smtClean="0"/>
              <a:t>12/18/25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DA7C54-D90D-8F61-E6B0-73DFCD0690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DDF46F-7C2A-96FD-C6E1-25B9AB0D3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6F6C21-1B4B-F54F-B80E-7BA5542241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6641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0F14536-F0EF-7A3D-FEBE-C46FF1174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FF713-6187-0C40-82CB-3EE322F7EF8C}" type="datetimeFigureOut">
              <a:rPr lang="en-US" smtClean="0"/>
              <a:t>12/18/25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E30439-3A25-2030-26C8-3D13AE7BA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373A2D-669C-321F-B6A3-4E412059C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6F6C21-1B4B-F54F-B80E-7BA5542241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2904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46E68C-2A6C-816C-4020-1915000EB4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60A26E-ECA7-4F8E-7691-980E9C7C5F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DFD888-1747-2766-F21F-E54EDB37A7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813EB7-56C3-13E8-3A43-A008174DD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FF713-6187-0C40-82CB-3EE322F7EF8C}" type="datetimeFigureOut">
              <a:rPr lang="en-US" smtClean="0"/>
              <a:t>12/18/25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FB1AAB-049B-3B13-58DB-638FF52A8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770B5F-6405-03E7-BF93-BE5BCDE71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6F6C21-1B4B-F54F-B80E-7BA5542241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9761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0D8C9-55CD-B68B-A80A-3E078908E5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87F229-1010-7C10-7F84-3114A0FF9B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7C7BF8-2616-0E50-9365-9202B20DB0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556966-B4BF-0AC6-76B6-F70006ADF7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FF713-6187-0C40-82CB-3EE322F7EF8C}" type="datetimeFigureOut">
              <a:rPr lang="en-US" smtClean="0"/>
              <a:t>12/18/25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64C26C-E24C-6495-1E37-C68F33CC7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E7B235-3ADA-E64B-2219-CBC058353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6F6C21-1B4B-F54F-B80E-7BA5542241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6728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6382BF-2C41-360D-F49E-72A6C68B4D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C33113-86EE-32EC-DBF2-CAAF8D718D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77BA87-56F6-C47C-E038-27CD65B618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FF713-6187-0C40-82CB-3EE322F7EF8C}" type="datetimeFigureOut">
              <a:rPr lang="en-US" smtClean="0"/>
              <a:t>12/18/25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B370B7-EDC6-18CF-EDD1-B722569DC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BD29BC-DAC1-139B-2FD7-5C19E1D0CD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6F6C21-1B4B-F54F-B80E-7BA5542241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54233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DE54268-85EB-4FC4-4662-6C734CBAB6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57B1FD-BC1F-61C0-F9CD-B91E5DD958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FC4CDB-7CB1-AB7B-5844-8671277426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FF713-6187-0C40-82CB-3EE322F7EF8C}" type="datetimeFigureOut">
              <a:rPr lang="en-US" smtClean="0"/>
              <a:t>12/18/25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39AC09-4A53-0A29-A919-688AEC146E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3DED93-AF63-C32E-291B-43039C8EE0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6F6C21-1B4B-F54F-B80E-7BA5542241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52212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AD5219-3AF4-9522-8F46-F29407B84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1610EB-F0DF-4DC9-0ACE-ADFEE7D97C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9EB798-E83E-BCDC-B8CD-8F8B17850A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AFF713-6187-0C40-82CB-3EE322F7EF8C}" type="datetimeFigureOut">
              <a:rPr lang="en-US" smtClean="0"/>
              <a:t>12/18/25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AB9336-B285-A4D2-DC81-A3CE0B0534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87B20C-D621-9ED0-86E9-BDEC8B6F2E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6F6C21-1B4B-F54F-B80E-7BA5542241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334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55800C-82D9-43C4-3859-FB5DAFE749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6396" y="586855"/>
            <a:ext cx="4230100" cy="338749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Willson Financial Case Study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070837-CE14-3E81-2953-C2273F7F2B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03158" y="649480"/>
            <a:ext cx="4862447" cy="554604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2000" b="1" dirty="0"/>
              <a:t>Course</a:t>
            </a:r>
          </a:p>
          <a:p>
            <a:pPr algn="l"/>
            <a:r>
              <a:rPr lang="en-US" sz="2000" dirty="0"/>
              <a:t>CSD310-340A Database Development and Use</a:t>
            </a:r>
          </a:p>
          <a:p>
            <a:pPr algn="l"/>
            <a:r>
              <a:rPr lang="en-US" sz="2000" b="1" dirty="0"/>
              <a:t>Group Members</a:t>
            </a:r>
            <a:endParaRPr lang="en-US" sz="2000" dirty="0"/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 dirty="0"/>
              <a:t>Mitchel Cotton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 dirty="0"/>
              <a:t>Carli McAvoy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 dirty="0"/>
              <a:t>Johnathan Smith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 dirty="0"/>
              <a:t>Christopher Villarreal</a:t>
            </a:r>
          </a:p>
        </p:txBody>
      </p:sp>
    </p:spTree>
    <p:extLst>
      <p:ext uri="{BB962C8B-B14F-4D97-AF65-F5344CB8AC3E}">
        <p14:creationId xmlns:p14="http://schemas.microsoft.com/office/powerpoint/2010/main" val="106086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12609869-9E80-471B-A487-A53288E0E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C7EF8D9-F29A-58C8-3C2E-CD93D9C6B2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502020"/>
            <a:ext cx="5323715" cy="1642970"/>
          </a:xfrm>
        </p:spPr>
        <p:txBody>
          <a:bodyPr anchor="b">
            <a:normAutofit/>
          </a:bodyPr>
          <a:lstStyle/>
          <a:p>
            <a:r>
              <a:rPr lang="en-US" sz="4000"/>
              <a:t>Willson Financial Case Study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D106D7-E2DA-26C7-488B-A8D6050F1C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4923" y="2405894"/>
            <a:ext cx="5315189" cy="3535083"/>
          </a:xfrm>
        </p:spPr>
        <p:txBody>
          <a:bodyPr anchor="t">
            <a:normAutofit/>
          </a:bodyPr>
          <a:lstStyle/>
          <a:p>
            <a:r>
              <a:rPr lang="en-US" sz="1700"/>
              <a:t>Willson Financial is an SEC-registered financial advising firm, recently opened in a small New Mexico town. Their firm serves ranchers, farmers, and retirees.</a:t>
            </a:r>
          </a:p>
          <a:p>
            <a:r>
              <a:rPr lang="en-US" sz="1700"/>
              <a:t>Our database was designed to answer questions such as:</a:t>
            </a:r>
          </a:p>
          <a:p>
            <a:pPr lvl="1"/>
            <a:r>
              <a:rPr lang="en-US" sz="1700"/>
              <a:t>How many clients have been added in each of the last six months?</a:t>
            </a:r>
          </a:p>
          <a:p>
            <a:pPr lvl="1"/>
            <a:r>
              <a:rPr lang="en-US" sz="1700"/>
              <a:t>What is the average asset amount across all clients?</a:t>
            </a:r>
          </a:p>
          <a:p>
            <a:pPr lvl="1"/>
            <a:r>
              <a:rPr lang="en-US" sz="1700"/>
              <a:t>Which clients have more than 10 transactions per month?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004738A-9D34-43E8-97D2-CA0EED4F8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5"/>
            <a:ext cx="4092521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8B8D07F-F13E-443E-BA68-2D26672D7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"/>
            <a:ext cx="4092521" cy="6400369"/>
          </a:xfrm>
          <a:prstGeom prst="rect">
            <a:avLst/>
          </a:prstGeom>
          <a:gradFill>
            <a:gsLst>
              <a:gs pos="31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6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813A4FA-24A5-41ED-A534-3807D1B2F3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2"/>
            <a:ext cx="4068667" cy="6400389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3944F27-CA70-4E84-A51A-E6BF89558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10"/>
            <a:ext cx="3611467" cy="6857997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93000">
                <a:srgbClr val="000000">
                  <a:alpha val="29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 descr="Calculator, pen, compass, money and a paper with graphs printed on it">
            <a:extLst>
              <a:ext uri="{FF2B5EF4-FFF2-40B4-BE49-F238E27FC236}">
                <a16:creationId xmlns:a16="http://schemas.microsoft.com/office/drawing/2014/main" id="{686087D5-2715-DBE5-E156-8C3E096FC41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716" r="24496" b="1"/>
          <a:stretch>
            <a:fillRect/>
          </a:stretch>
        </p:blipFill>
        <p:spPr>
          <a:xfrm>
            <a:off x="7191949" y="909081"/>
            <a:ext cx="3938565" cy="5071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6368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FDDFABF-7217-568D-A9D7-7A62F537F2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Business Rules &amp; Assumptions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78314D2-6340-89FE-B003-16495C8FCFC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73585496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16632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E8B9E9A-F75B-456F-4ACA-50280C7A29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ER Diagram</a:t>
            </a:r>
          </a:p>
        </p:txBody>
      </p:sp>
      <p:pic>
        <p:nvPicPr>
          <p:cNvPr id="4" name="Content Placeholder 3" descr="A diagram of a company&#10;&#10;AI-generated content may be incorrect.">
            <a:extLst>
              <a:ext uri="{FF2B5EF4-FFF2-40B4-BE49-F238E27FC236}">
                <a16:creationId xmlns:a16="http://schemas.microsoft.com/office/drawing/2014/main" id="{1A0B5C41-9EEE-4CD8-3AC1-E94297FBCB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2428" y="529669"/>
            <a:ext cx="7225748" cy="5798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42633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BA79A7CF-01AF-4178-9369-94E0C90EB0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A910E2-4B36-947F-21A1-07E043D54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7909" y="2023110"/>
            <a:ext cx="2469624" cy="284607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7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Report #1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388740-22E4-952E-DC16-E810734F29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00850" y="4349932"/>
            <a:ext cx="3003741" cy="1178298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Displays each client with their asset type and total asset value.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9413ED5-9ED4-4772-BCE4-2BCAE6B12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433973" y="-827233"/>
            <a:ext cx="1715478" cy="858342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4357C93-F0CB-4A1C-8F77-4E9063789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2085" y="664308"/>
            <a:ext cx="8082632" cy="560034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18CCFB46-E45C-BA6D-4D01-98A3310861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238" y="1400726"/>
            <a:ext cx="7608304" cy="4127504"/>
          </a:xfrm>
          <a:prstGeom prst="rect">
            <a:avLst/>
          </a:pr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90F533E9-6690-41A8-A372-4C6C622D02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950447" y="3392097"/>
            <a:ext cx="1719072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75316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79A7CF-01AF-4178-9369-94E0C90EB0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E1BEC5-29BE-5CCF-B048-30AA5E7ED8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7909" y="2023110"/>
            <a:ext cx="2469624" cy="284607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7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Report #2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C06056-775F-5EE9-A1BA-2C47D3202C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67908" y="5086350"/>
            <a:ext cx="2446465" cy="1178298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Calculates the average asset value across all clients.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9413ED5-9ED4-4772-BCE4-2BCAE6B12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433973" y="-827233"/>
            <a:ext cx="1715478" cy="858342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4357C93-F0CB-4A1C-8F77-4E9063789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2085" y="664308"/>
            <a:ext cx="8082632" cy="560034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screen shot of a black background&#10;&#10;AI-generated content may be incorrect.">
            <a:extLst>
              <a:ext uri="{FF2B5EF4-FFF2-40B4-BE49-F238E27FC236}">
                <a16:creationId xmlns:a16="http://schemas.microsoft.com/office/drawing/2014/main" id="{FA12F716-11B2-4EB6-0AA1-F81968A6D0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238" y="2351764"/>
            <a:ext cx="7608304" cy="2225427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90F533E9-6690-41A8-A372-4C6C622D02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950447" y="3392097"/>
            <a:ext cx="1719072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3413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79A7CF-01AF-4178-9369-94E0C90EB0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C98E90-C929-6EF6-E269-AADCD7349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7909" y="2023110"/>
            <a:ext cx="2469624" cy="284607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7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Report #3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9413ED5-9ED4-4772-BCE4-2BCAE6B12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433973" y="-827233"/>
            <a:ext cx="1715478" cy="858342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4357C93-F0CB-4A1C-8F77-4E9063789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2085" y="664308"/>
            <a:ext cx="8082632" cy="560034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EDC13F76-099D-9D98-BDDE-BC9F77F709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5238" y="868145"/>
            <a:ext cx="7608304" cy="5192666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90F533E9-6690-41A8-A372-4C6C622D02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950447" y="3392097"/>
            <a:ext cx="1719072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744B95-758D-D3FC-A456-4BC8D77FA5F8}"/>
              </a:ext>
            </a:extLst>
          </p:cNvPr>
          <p:cNvSpPr txBox="1"/>
          <p:nvPr/>
        </p:nvSpPr>
        <p:spPr>
          <a:xfrm>
            <a:off x="9038556" y="4516582"/>
            <a:ext cx="285135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Shows how many new clients were added per month over the last six months.</a:t>
            </a:r>
          </a:p>
        </p:txBody>
      </p:sp>
    </p:spTree>
    <p:extLst>
      <p:ext uri="{BB962C8B-B14F-4D97-AF65-F5344CB8AC3E}">
        <p14:creationId xmlns:p14="http://schemas.microsoft.com/office/powerpoint/2010/main" val="32313578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700E0F77-E936-4985-B7B1-B9823486AC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F72BB8-0043-0445-13C4-DE4D23C670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89" y="4883544"/>
            <a:ext cx="3876086" cy="1556907"/>
          </a:xfrm>
        </p:spPr>
        <p:txBody>
          <a:bodyPr anchor="ctr">
            <a:normAutofit/>
          </a:bodyPr>
          <a:lstStyle/>
          <a:p>
            <a:r>
              <a:rPr lang="en-US" sz="3200"/>
              <a:t>Report #4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5C8260E-968F-44E8-A823-ABB4313119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86584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89" y="0"/>
            <a:ext cx="11231745" cy="458818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black screen with white text&#10;&#10;AI-generated content may be incorrect.">
            <a:extLst>
              <a:ext uri="{FF2B5EF4-FFF2-40B4-BE49-F238E27FC236}">
                <a16:creationId xmlns:a16="http://schemas.microsoft.com/office/drawing/2014/main" id="{C667E855-B74C-4474-9742-48D8BAAC99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205" y="1572264"/>
            <a:ext cx="10369645" cy="1451748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FE43805F-24A6-46A4-B19B-54F283473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001107" y="5661132"/>
            <a:ext cx="1463040" cy="4571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CD1D73-781C-1085-EFBE-6D4E593618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62719" y="4883544"/>
            <a:ext cx="6586915" cy="155690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800"/>
              <a:t>Identifies which client(s) contain more than 10 transactions in a single month</a:t>
            </a:r>
          </a:p>
        </p:txBody>
      </p:sp>
    </p:spTree>
    <p:extLst>
      <p:ext uri="{BB962C8B-B14F-4D97-AF65-F5344CB8AC3E}">
        <p14:creationId xmlns:p14="http://schemas.microsoft.com/office/powerpoint/2010/main" val="12453212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227</TotalTime>
  <Words>211</Words>
  <Application>Microsoft Macintosh PowerPoint</Application>
  <PresentationFormat>Widescreen</PresentationFormat>
  <Paragraphs>31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Willson Financial Case Study</vt:lpstr>
      <vt:lpstr>Willson Financial Case Study Overview</vt:lpstr>
      <vt:lpstr>Business Rules &amp; Assumptions</vt:lpstr>
      <vt:lpstr>ER Diagram</vt:lpstr>
      <vt:lpstr>Report #1</vt:lpstr>
      <vt:lpstr>Report #2</vt:lpstr>
      <vt:lpstr>Report #3</vt:lpstr>
      <vt:lpstr>Report #4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Villarreal</dc:creator>
  <cp:lastModifiedBy>Christopher Villarreal</cp:lastModifiedBy>
  <cp:revision>6</cp:revision>
  <dcterms:created xsi:type="dcterms:W3CDTF">2025-12-11T19:07:21Z</dcterms:created>
  <dcterms:modified xsi:type="dcterms:W3CDTF">2025-12-19T07:38:52Z</dcterms:modified>
</cp:coreProperties>
</file>